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L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40000" y="144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40000" y="2610000"/>
            <a:ext cx="8999640" cy="215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lnSpc>
                <a:spcPct val="100000"/>
              </a:lnSpc>
              <a:spcAft>
                <a:spcPts val="1057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Aft>
                <a:spcPts val="845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Aft>
                <a:spcPts val="632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Aft>
                <a:spcPts val="425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Aft>
                <a:spcPts val="425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18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308200"/>
            <a:ext cx="32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56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46CF90-A3A9-48C1-BE21-ED946E0E8F3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1440000" y="108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7380000" y="396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9000000" y="270000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-180000" y="243000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40000" y="108000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0" y="126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0" y="522000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9720000" y="468000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9540000" y="342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8100000" y="468000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7920000" y="5400000"/>
            <a:ext cx="899640" cy="89964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40000" y="144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540000" y="2610000"/>
            <a:ext cx="8999640" cy="215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>
              <a:lnSpc>
                <a:spcPct val="100000"/>
              </a:lnSpc>
              <a:spcAft>
                <a:spcPts val="1057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Aft>
                <a:spcPts val="845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Aft>
                <a:spcPts val="632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Aft>
                <a:spcPts val="425"/>
              </a:spcAft>
              <a:buClr>
                <a:srgbClr val="FFFFFF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Aft>
                <a:spcPts val="425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Aft>
                <a:spcPts val="213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4"/>
          </p:nvPr>
        </p:nvSpPr>
        <p:spPr>
          <a:xfrm>
            <a:off x="18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5"/>
          </p:nvPr>
        </p:nvSpPr>
        <p:spPr>
          <a:xfrm>
            <a:off x="3420000" y="5308200"/>
            <a:ext cx="32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6"/>
          </p:nvPr>
        </p:nvSpPr>
        <p:spPr>
          <a:xfrm>
            <a:off x="756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6FB4801-1544-44A0-8B7B-DA34C747C62E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1440000" y="108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7380000" y="396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9000000" y="270000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-180000" y="243000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540000" y="108000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0" y="126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0" y="522000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9720000" y="468000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9540000" y="342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8100000" y="468000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7920000" y="5400000"/>
            <a:ext cx="899640" cy="899640"/>
          </a:xfrm>
          <a:prstGeom prst="ellipse">
            <a:avLst/>
          </a:prstGeom>
          <a:solidFill>
            <a:srgbClr val="FFFFFF">
              <a:alpha val="2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Light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>
            <a:off x="0" y="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 flipH="1">
            <a:off x="-720" y="0"/>
            <a:ext cx="10079640" cy="566964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440000" y="108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7380000" y="396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9000000" y="2700000"/>
            <a:ext cx="1259640" cy="107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-180000" y="2430000"/>
            <a:ext cx="1439640" cy="134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540000" y="108000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0" y="126000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0" y="5220000"/>
            <a:ext cx="1619640" cy="1259640"/>
          </a:xfrm>
          <a:prstGeom prst="ellipse">
            <a:avLst/>
          </a:prstGeom>
          <a:solidFill>
            <a:srgbClr val="FFFFFF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9720000" y="4680000"/>
            <a:ext cx="719640" cy="71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9540000" y="3420360"/>
            <a:ext cx="719640" cy="71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8100000" y="4680000"/>
            <a:ext cx="1079640" cy="8420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920000" y="5400000"/>
            <a:ext cx="899640" cy="899640"/>
          </a:xfrm>
          <a:prstGeom prst="ellipse">
            <a:avLst/>
          </a:prstGeom>
          <a:solidFill>
            <a:srgbClr val="FFFFFF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7"/>
          </p:nvPr>
        </p:nvSpPr>
        <p:spPr>
          <a:xfrm>
            <a:off x="18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8"/>
          </p:nvPr>
        </p:nvSpPr>
        <p:spPr>
          <a:xfrm>
            <a:off x="3420000" y="5308200"/>
            <a:ext cx="32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9"/>
          </p:nvPr>
        </p:nvSpPr>
        <p:spPr>
          <a:xfrm>
            <a:off x="756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A3985EA-14E8-4F4C-BE03-970DA8D8B579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Light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>
            <a:off x="0" y="0"/>
            <a:ext cx="10079640" cy="5669640"/>
          </a:xfrm>
          <a:prstGeom prst="rect">
            <a:avLst/>
          </a:prstGeom>
          <a:gradFill rotWithShape="0">
            <a:gsLst>
              <a:gs pos="30000">
                <a:srgbClr val="000032"/>
              </a:gs>
              <a:gs pos="100000">
                <a:srgbClr val="F60063"/>
              </a:gs>
            </a:gsLst>
            <a:lin ang="4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 flipH="1">
            <a:off x="-720" y="0"/>
            <a:ext cx="10079640" cy="5669640"/>
          </a:xfrm>
          <a:prstGeom prst="rect">
            <a:avLst/>
          </a:prstGeom>
          <a:gradFill rotWithShape="0">
            <a:gsLst>
              <a:gs pos="0">
                <a:srgbClr val="FFFFFF">
                  <a:alpha val="90000"/>
                </a:srgbClr>
              </a:gs>
              <a:gs pos="75000">
                <a:srgbClr val="FFFFFF">
                  <a:alpha val="20000"/>
                </a:srgbClr>
              </a:gs>
            </a:gsLst>
            <a:path path="circle">
              <a:fillToRect l="50000" t="85000" r="50000" b="15000"/>
            </a:path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0" y="1260000"/>
            <a:ext cx="10079640" cy="4409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440000" y="1080000"/>
            <a:ext cx="1439640" cy="1259640"/>
          </a:xfrm>
          <a:prstGeom prst="ellipse">
            <a:avLst/>
          </a:prstGeom>
          <a:solidFill>
            <a:srgbClr val="FFFFFF">
              <a:alpha val="3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540000" y="1080000"/>
            <a:ext cx="719640" cy="719640"/>
          </a:xfrm>
          <a:prstGeom prst="ellipse">
            <a:avLst/>
          </a:prstGeom>
          <a:solidFill>
            <a:srgbClr val="FFFFF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endParaRPr lang="en-US" sz="1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40000" y="270000"/>
            <a:ext cx="8999640" cy="98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Aft>
                <a:spcPts val="635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Aft>
                <a:spcPts val="106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50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5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Aft>
                <a:spcPts val="42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Aft>
                <a:spcPts val="213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dt" idx="10"/>
          </p:nvPr>
        </p:nvSpPr>
        <p:spPr>
          <a:xfrm>
            <a:off x="18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ftr" idx="11"/>
          </p:nvPr>
        </p:nvSpPr>
        <p:spPr>
          <a:xfrm>
            <a:off x="3420000" y="5308200"/>
            <a:ext cx="32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sldNum" idx="12"/>
          </p:nvPr>
        </p:nvSpPr>
        <p:spPr>
          <a:xfrm>
            <a:off x="7560000" y="5308200"/>
            <a:ext cx="2339640" cy="213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7551EF-CD6A-40FB-BE97-F24033593F2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1428480"/>
            <a:ext cx="907128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Capstone Project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504000" y="2591640"/>
            <a:ext cx="9071280" cy="202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By william rose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6/15/2026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Messy and clustered stuff at home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Problems: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8" name="" descr="Image by Rachel from Pixabay&#10;https://pixabay.com/users/rachelrinse-15100404/?utm_source=link-attribution&amp;utm_medium=referral&amp;utm_campaign=image&amp;utm_content=5300174&#10;https://pixabay.com//?utm_source=link-attribution&amp;utm_medium=referral&amp;utm_campaign=image&amp;utm_content=5300174"/>
          <p:cNvPicPr/>
          <p:nvPr/>
        </p:nvPicPr>
        <p:blipFill>
          <a:blip r:embed="rId1">
            <a:alphaModFix amt="70000"/>
          </a:blip>
          <a:stretch/>
        </p:blipFill>
        <p:spPr>
          <a:xfrm>
            <a:off x="540000" y="2057400"/>
            <a:ext cx="4571640" cy="3050280"/>
          </a:xfrm>
          <a:prstGeom prst="rect">
            <a:avLst/>
          </a:prstGeom>
          <a:noFill/>
          <a:ln w="18000">
            <a:noFill/>
          </a:ln>
        </p:spPr>
      </p:pic>
      <p:pic>
        <p:nvPicPr>
          <p:cNvPr id="69" name="" descr="Image by Mote Oo Education from Pixabay&#10;https://pixabay.com/users/moteoo-466065/?utm_source=link-attribution&amp;utm_medium=referral&amp;utm_campaign=image&amp;utm_content=1459688&#10;https://pixabay.com//?utm_source=link-attribution&amp;utm_medium=referral&amp;utm_campaign=image&amp;utm_content=1459688"/>
          <p:cNvPicPr/>
          <p:nvPr/>
        </p:nvPicPr>
        <p:blipFill>
          <a:blip r:embed="rId2">
            <a:alphaModFix amt="70000"/>
          </a:blip>
          <a:stretch/>
        </p:blipFill>
        <p:spPr>
          <a:xfrm>
            <a:off x="6851880" y="136440"/>
            <a:ext cx="2977560" cy="21492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70E88E2-DDE3-47C8-B567-853A8B8BA9D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7" dur="2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 additive="repl">
                                        <p:cTn id="12" dur="2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Solution: HomeInventBox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Inventory Manager for home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Object/Items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Category in an items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the items is at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 by items name, category, floor, or room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Scan bar code to search item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Save and load object with all of data.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internet connection required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0EC7E5D-672A-43DF-8601-1DA75626379F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3" dur="indefinite" restart="never" nodeType="tmRoot">
          <p:childTnLst>
            <p:seq>
              <p:cTn id="14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3" dur="500"/>
                                        <p:tgtEl>
                                          <p:spTgt spid="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8" dur="500"/>
                                        <p:tgtEl>
                                          <p:spTgt spid="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3" dur="500"/>
                                        <p:tgtEl>
                                          <p:spTgt spid="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8" dur="500"/>
                                        <p:tgtEl>
                                          <p:spTgt spid="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43" dur="500"/>
                                        <p:tgtEl>
                                          <p:spTgt spid="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48" dur="500"/>
                                        <p:tgtEl>
                                          <p:spTgt spid="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53" dur="500"/>
                                        <p:tgtEl>
                                          <p:spTgt spid="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Planning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Initially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different application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ETO.Forms for Desktop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Avalonia UI for Mobile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ASP.NET with Angular for docker self hosted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Console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framework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Xunit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Jasmine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15D7F1F-F1AB-4326-97A9-73D82D80767F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4" dur="indefinite" restart="never" nodeType="tmRoot">
          <p:childTnLst>
            <p:seq>
              <p:cTn id="55" dur="indefinite" nodeType="mainSeq">
                <p:childTnLst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Planning (Cont)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 fontScale="85000" lnSpcReduction="9999"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Beginning: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Wireframes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Diagrams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on: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ETO.Forms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documentations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Scope down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desktop application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Object with category, places, warrantly, insurance.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Aft>
                <a:spcPts val="63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Save and load via local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l">
              <a:lnSpc>
                <a:spcPct val="100000"/>
              </a:lnSpc>
              <a:spcAft>
                <a:spcPts val="1057"/>
              </a:spcAft>
              <a:buNone/>
              <a:tabLst>
                <a:tab pos="0" algn="l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"/>
          <p:cNvPicPr/>
          <p:nvPr/>
        </p:nvPicPr>
        <p:blipFill>
          <a:blip r:embed="rId1">
            <a:alphaModFix amt="70000"/>
          </a:blip>
          <a:stretch/>
        </p:blipFill>
        <p:spPr>
          <a:xfrm>
            <a:off x="0" y="0"/>
            <a:ext cx="10114920" cy="56696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F663548-ADB1-4CA0-8C09-3A63F719112A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92" dur="indefinite" restart="never" nodeType="tmRoot">
          <p:childTnLst>
            <p:seq>
              <p:cTn id="93" dur="indefinite" nodeType="mainSeq">
                <p:childTnLst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98" dur="500" fill="hold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9" dur="500" fill="hold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04" dur="500"/>
                                        <p:tgtEl>
                                          <p:spTgt spid="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5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109" dur="500"/>
                                        <p:tgtEl>
                                          <p:spTgt spid="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4" dur="500"/>
                                        <p:tgtEl>
                                          <p:spTgt spid="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1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2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1" fill="hold">
                            <p:stCondLst>
                              <p:cond delay="500"/>
                            </p:stCondLst>
                            <p:childTnLst>
                              <p:par>
                                <p:cTn id="122" presetID="1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2" fill="hold">
                      <p:stCondLst>
                        <p:cond delay="indefinite"/>
                      </p:stCondLst>
                      <p:childTnLst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User Testing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 fontScale="77500" lnSpcReduction="19999"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users testing the software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lot of bugs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lot of users confused with the software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 does need to install a framework to run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changed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Options to restore data when application crashed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 process for new users (wall of text)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Feedback loops for every buttons and functionality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Navigation Button widen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Added lost conditions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Added ability to copy data from right click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Some others.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9F0A67B-A9F4-4C83-A0DF-6B63CFB71D08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40" dur="indefinite" restart="never" nodeType="tmRoot">
          <p:childTnLst>
            <p:seq>
              <p:cTn id="141" dur="indefinite" nodeType="mainSeq">
                <p:childTnLst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>
                      <p:stCondLst>
                        <p:cond delay="indefinite"/>
                      </p:stCondLst>
                      <p:childTnLst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6" fill="hold">
                      <p:stCondLst>
                        <p:cond delay="indefinite"/>
                      </p:stCondLst>
                      <p:childTnLst>
                        <p:par>
                          <p:cTn id="187" fill="hold">
                            <p:stCondLst>
                              <p:cond delay="0"/>
                            </p:stCondLst>
                            <p:childTnLst>
                              <p:par>
                                <p:cTn id="18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Features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Scan bar code to filter item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Copy the data to json file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Enter and exit full screen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8F279C4-D874-495B-B1B5-AEF7DF6DD67E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0" dur="indefinite" restart="never" nodeType="tmRoot">
          <p:childTnLst>
            <p:seq>
              <p:cTn id="191" dur="indefinite" nodeType="mainSeq">
                <p:childTnLst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6" fill="hold">
                      <p:stCondLst>
                        <p:cond delay="indefinite"/>
                      </p:stCondLst>
                      <p:childTnLst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Technology choices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C#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ETO.Forms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FlashCap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Xzing.Net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CSVHelpers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Windows, MacOS, Linux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188D310-0F19-441C-A176-78B4F049AE6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04" dur="indefinite" restart="never" nodeType="tmRoot">
          <p:childTnLst>
            <p:seq>
              <p:cTn id="205" dur="indefinite" nodeType="mainSeq">
                <p:childTnLst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8" fill="hold">
                      <p:stCondLst>
                        <p:cond delay="indefinite"/>
                      </p:stCondLst>
                      <p:childTnLst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Reflection: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Things done differently: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Focus on one or two framework at a time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 documentation for each framework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 and use different language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Thing went well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Core functionality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Organized into different project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Aft>
                <a:spcPts val="845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Building unit test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43191AF-1743-4BD7-B5E6-1BAC7B0ADE8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30" dur="indefinite" restart="never" nodeType="tmRoot">
          <p:childTnLst>
            <p:seq>
              <p:cTn id="231" dur="indefinite" nodeType="mainSeq">
                <p:childTnLst>
                  <p:par>
                    <p:cTn id="232" fill="hold">
                      <p:stCondLst>
                        <p:cond delay="indefinite"/>
                      </p:stCondLst>
                      <p:childTnLst>
                        <p:par>
                          <p:cTn id="233" fill="hold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4" fill="hold">
                      <p:stCondLst>
                        <p:cond delay="indefinite"/>
                      </p:stCondLst>
                      <p:childTnLst>
                        <p:par>
                          <p:cTn id="245" fill="hold">
                            <p:stCondLst>
                              <p:cond delay="0"/>
                            </p:stCondLst>
                            <p:childTnLst>
                              <p:par>
                                <p:cTn id="24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2" fill="hold">
                      <p:stCondLst>
                        <p:cond delay="indefinite"/>
                      </p:stCondLst>
                      <p:childTnLst>
                        <p:par>
                          <p:cTn id="253" fill="hold">
                            <p:stCondLst>
                              <p:cond delay="0"/>
                            </p:stCondLst>
                            <p:childTnLst>
                              <p:par>
                                <p:cTn id="25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6" fill="hold">
                      <p:stCondLst>
                        <p:cond delay="indefinite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40000" y="269640"/>
            <a:ext cx="8999640" cy="9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Project future:</a:t>
            </a:r>
            <a:endParaRPr lang="en-US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540000" y="1440000"/>
            <a:ext cx="8999640" cy="3599640"/>
          </a:xfrm>
          <a:prstGeom prst="rect">
            <a:avLst/>
          </a:prstGeom>
          <a:solidFill>
            <a:srgbClr val="FFFFFF">
              <a:alpha val="50000"/>
            </a:srgbClr>
          </a:solidFill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Change intro process from wall of texts to interactive or grab a youtube video.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Save data to json file along with csv file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Image to items for display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Refactor the code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account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lnSpc>
                <a:spcPct val="100000"/>
              </a:lnSpc>
              <a:spcAft>
                <a:spcPts val="1057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 app, Self hosted web app, TUI console app.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4D2319C-B1E9-42C6-8B6A-855944335088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64" dur="indefinite" restart="never" nodeType="tmRoot">
          <p:childTnLst>
            <p:seq>
              <p:cTn id="265" dur="indefinite" nodeType="mainSeq">
                <p:childTnLst>
                  <p:par>
                    <p:cTn id="266" fill="hold">
                      <p:stCondLst>
                        <p:cond delay="indefinite"/>
                      </p:stCondLst>
                      <p:childTnLst>
                        <p:par>
                          <p:cTn id="267" fill="hold">
                            <p:stCondLst>
                              <p:cond delay="0"/>
                            </p:stCondLst>
                            <p:childTnLst>
                              <p:par>
                                <p:cTn id="26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4" fill="hold">
                      <p:stCondLst>
                        <p:cond delay="indefinite"/>
                      </p:stCondLst>
                      <p:childTnLst>
                        <p:par>
                          <p:cTn id="275" fill="hold">
                            <p:stCondLst>
                              <p:cond delay="0"/>
                            </p:stCondLst>
                            <p:childTnLst>
                              <p:par>
                                <p:cTn id="27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8" fill="hold">
                      <p:stCondLst>
                        <p:cond delay="indefinite"/>
                      </p:stCondLst>
                      <p:childTnLst>
                        <p:par>
                          <p:cTn id="279" fill="hold">
                            <p:stCondLst>
                              <p:cond delay="0"/>
                            </p:stCondLst>
                            <p:childTnLst>
                              <p:par>
                                <p:cTn id="28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2" fill="hold">
                      <p:stCondLst>
                        <p:cond delay="indefinite"/>
                      </p:stCondLst>
                      <p:childTnLst>
                        <p:par>
                          <p:cTn id="283" fill="hold">
                            <p:stCondLst>
                              <p:cond delay="0"/>
                            </p:stCondLst>
                            <p:childTnLst>
                              <p:par>
                                <p:cTn id="284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6" fill="hold">
                      <p:stCondLst>
                        <p:cond delay="indefinite"/>
                      </p:stCondLst>
                      <p:childTnLst>
                        <p:par>
                          <p:cTn id="287" fill="hold">
                            <p:stCondLst>
                              <p:cond delay="0"/>
                            </p:stCondLst>
                            <p:childTnLst>
                              <p:par>
                                <p:cTn id="288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LibreOffice/26.2.4.2$Linux_X86_64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2026-06-13T22:08:16Z</dcterms:created>
  <dc:creator/>
  <dc:description>This work is licensed under a Creative Commons 0 License.
It makes use of the works of kka_libo_design@ashisuto.co.jp.</dc:description>
  <dc:language>en-US</dc:language>
  <cp:lastModifiedBy/>
  <dcterms:modified xsi:type="dcterms:W3CDTF">2026-06-14T21:21:39Z</dcterms:modified>
  <cp:revision>4</cp:revision>
  <dc:subject/>
  <dc:title>Lights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